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1828800" y="-1828800"/>
            <a:ext cx="6400800" cy="640080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63840" y="-1463040"/>
            <a:ext cx="5943600" cy="5943600"/>
          </a:xfrm>
          <a:prstGeom prst="ellipse">
            <a:avLst/>
          </a:prstGeom>
          <a:solidFill>
            <a:srgbClr val="10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914400"/>
            <a:ext cx="5852160" cy="457200"/>
          </a:xfrm>
          <a:prstGeom prst="roundRect">
            <a:avLst>
              <a:gd name="adj" fmla="val 50000"/>
            </a:avLst>
          </a:prstGeom>
          <a:solidFill>
            <a:srgbClr val="1F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94A3B8"/>
                </a:solidFill>
                <a:latin typeface="Calibri"/>
              </a:rPr>
              <a:t>ISULPAR · Sistemas de Informação · Marketing Digital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 i="0">
                <a:solidFill>
                  <a:srgbClr val="16E27B"/>
                </a:solidFill>
                <a:latin typeface="Calibri"/>
              </a:rPr>
              <a:t>FitManager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F1F5F9"/>
                </a:solidFill>
                <a:latin typeface="Calibri"/>
              </a:rPr>
              <a:t>Sistema de gestão para Personal Trainers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>
                <a:solidFill>
                  <a:srgbClr val="94A3B8"/>
                </a:solidFill>
                <a:latin typeface="Calibri"/>
              </a:rPr>
              <a:t>Gerencie seus alunos e multiplique sua renda.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480560"/>
            <a:ext cx="3200400" cy="502920"/>
          </a:xfrm>
          <a:prstGeom prst="roundRect">
            <a:avLst>
              <a:gd name="adj" fmla="val 50000"/>
            </a:avLst>
          </a:prstGeom>
          <a:solidFill>
            <a:srgbClr val="16E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06231A"/>
                </a:solidFill>
                <a:latin typeface="Calibri"/>
              </a:rPr>
              <a:t>Categoria sorteada: SaaS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064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Professor: Luiz Carlos Efigenio da Rosa Junior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Apresentação: 18/06/2026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1F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6E27B"/>
                </a:solidFill>
                <a:latin typeface="Calibri"/>
              </a:rPr>
              <a:t>O DESAFIO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1F5F9"/>
                </a:solidFill>
                <a:latin typeface="Calibri"/>
              </a:rPr>
              <a:t>Todo personal trainer perde tempo e dinheiro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94A3B8"/>
                </a:solidFill>
                <a:latin typeface="Calibri"/>
              </a:rPr>
              <a:t>Quem atende vários alunos vive a mesma rotina caótica: planilhas soltas,</a:t>
            </a:r>
          </a:p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94A3B8"/>
                </a:solidFill>
                <a:latin typeface="Calibri"/>
              </a:rPr>
              <a:t>cobrança manual no WhatsApp e treinos difíceis de organizar.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80360"/>
            <a:ext cx="5257800" cy="1554480"/>
          </a:xfrm>
          <a:prstGeom prst="roundRect">
            <a:avLst>
              <a:gd name="adj" fmla="val 8000"/>
            </a:avLst>
          </a:prstGeom>
          <a:solidFill>
            <a:srgbClr val="172138"/>
          </a:solidFill>
          <a:ln w="12700">
            <a:solidFill>
              <a:srgbClr val="2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3182112"/>
            <a:ext cx="457200" cy="457200"/>
          </a:xfrm>
          <a:prstGeom prst="ellipse">
            <a:avLst/>
          </a:prstGeom>
          <a:solidFill>
            <a:srgbClr val="3A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87171"/>
                </a:solidFill>
                <a:latin typeface="Calibri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136391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1F5F9"/>
                </a:solidFill>
                <a:latin typeface="Calibri"/>
              </a:rPr>
              <a:t>Cobrança manual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630168"/>
            <a:ext cx="4160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94A3B8"/>
                </a:solidFill>
                <a:latin typeface="Calibri"/>
              </a:rPr>
              <a:t>Mensalidade cobrada uma a uma no WhatsApp.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880360"/>
            <a:ext cx="5257800" cy="1554480"/>
          </a:xfrm>
          <a:prstGeom prst="roundRect">
            <a:avLst>
              <a:gd name="adj" fmla="val 8000"/>
            </a:avLst>
          </a:prstGeom>
          <a:solidFill>
            <a:srgbClr val="172138"/>
          </a:solidFill>
          <a:ln w="12700">
            <a:solidFill>
              <a:srgbClr val="2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3182112"/>
            <a:ext cx="457200" cy="457200"/>
          </a:xfrm>
          <a:prstGeom prst="ellipse">
            <a:avLst/>
          </a:prstGeom>
          <a:solidFill>
            <a:srgbClr val="3A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87171"/>
                </a:solidFill>
                <a:latin typeface="Calibri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3136391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1F5F9"/>
                </a:solidFill>
                <a:latin typeface="Calibri"/>
              </a:rPr>
              <a:t>Inadimplência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3630168"/>
            <a:ext cx="4160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94A3B8"/>
                </a:solidFill>
                <a:latin typeface="Calibri"/>
              </a:rPr>
              <a:t>Sem controle de quem pagou — dinheiro perdido.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709160"/>
            <a:ext cx="5257800" cy="1554480"/>
          </a:xfrm>
          <a:prstGeom prst="roundRect">
            <a:avLst>
              <a:gd name="adj" fmla="val 8000"/>
            </a:avLst>
          </a:prstGeom>
          <a:solidFill>
            <a:srgbClr val="172138"/>
          </a:solidFill>
          <a:ln w="12700">
            <a:solidFill>
              <a:srgbClr val="2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5010912"/>
            <a:ext cx="457200" cy="457200"/>
          </a:xfrm>
          <a:prstGeom prst="ellipse">
            <a:avLst/>
          </a:prstGeom>
          <a:solidFill>
            <a:srgbClr val="3A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87171"/>
                </a:solidFill>
                <a:latin typeface="Calibri"/>
              </a:rP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965192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1F5F9"/>
                </a:solidFill>
                <a:latin typeface="Calibri"/>
              </a:rPr>
              <a:t>Treinos desorganizados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5458968"/>
            <a:ext cx="4160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94A3B8"/>
                </a:solidFill>
                <a:latin typeface="Calibri"/>
              </a:rPr>
              <a:t>Vídeos e fichas espalhados em conversas.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709160"/>
            <a:ext cx="5257800" cy="1554480"/>
          </a:xfrm>
          <a:prstGeom prst="roundRect">
            <a:avLst>
              <a:gd name="adj" fmla="val 8000"/>
            </a:avLst>
          </a:prstGeom>
          <a:solidFill>
            <a:srgbClr val="172138"/>
          </a:solidFill>
          <a:ln w="12700">
            <a:solidFill>
              <a:srgbClr val="2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5010912"/>
            <a:ext cx="457200" cy="457200"/>
          </a:xfrm>
          <a:prstGeom prst="ellipse">
            <a:avLst/>
          </a:prstGeom>
          <a:solidFill>
            <a:srgbClr val="3A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87171"/>
                </a:solidFill>
                <a:latin typeface="Calibri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4965192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1F5F9"/>
                </a:solidFill>
                <a:latin typeface="Calibri"/>
              </a:rPr>
              <a:t>Falta de tempo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5458968"/>
            <a:ext cx="4160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94A3B8"/>
                </a:solidFill>
                <a:latin typeface="Calibri"/>
              </a:rPr>
              <a:t>Horas por semana gastas com burocracia.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1F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6E27B"/>
                </a:solidFill>
                <a:latin typeface="Calibri"/>
              </a:rPr>
              <a:t>A SOLUÇÃO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1F5F9"/>
                </a:solidFill>
                <a:latin typeface="Calibri"/>
              </a:rPr>
              <a:t>FitManager: tudo em um só lugar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94A3B8"/>
                </a:solidFill>
                <a:latin typeface="Calibri"/>
              </a:rPr>
              <a:t>Um SaaS (software por assinatura, no navegador) que centraliza a operação do personal trainer.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88920"/>
            <a:ext cx="3474720" cy="3108960"/>
          </a:xfrm>
          <a:prstGeom prst="roundRect">
            <a:avLst>
              <a:gd name="adj" fmla="val 8000"/>
            </a:avLst>
          </a:prstGeom>
          <a:solidFill>
            <a:srgbClr val="17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3200400"/>
            <a:ext cx="731520" cy="731520"/>
          </a:xfrm>
          <a:prstGeom prst="ellipse">
            <a:avLst/>
          </a:prstGeom>
          <a:solidFill>
            <a:srgbClr val="1F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16E27B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1148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1F5F9"/>
                </a:solidFill>
                <a:latin typeface="Calibri"/>
              </a:rPr>
              <a:t>Gestão de alunos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709160"/>
            <a:ext cx="2743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4A3B8"/>
                </a:solidFill>
                <a:latin typeface="Calibri"/>
              </a:rPr>
              <a:t>Cadastro, objetivos, avaliação física e histórico de cada aluno.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788920"/>
            <a:ext cx="3474720" cy="3108960"/>
          </a:xfrm>
          <a:prstGeom prst="roundRect">
            <a:avLst>
              <a:gd name="adj" fmla="val 8000"/>
            </a:avLst>
          </a:prstGeom>
          <a:solidFill>
            <a:srgbClr val="17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00600" y="3200400"/>
            <a:ext cx="731520" cy="731520"/>
          </a:xfrm>
          <a:prstGeom prst="ellipse">
            <a:avLst/>
          </a:prstGeom>
          <a:solidFill>
            <a:srgbClr val="1F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16E27B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41148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1F5F9"/>
                </a:solidFill>
                <a:latin typeface="Calibri"/>
              </a:rPr>
              <a:t>Treinos com vídeo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4709160"/>
            <a:ext cx="2743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4A3B8"/>
                </a:solidFill>
                <a:latin typeface="Calibri"/>
              </a:rPr>
              <a:t>Fichas com séries, repetições e vídeos demonstrativos dos exercícios.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599" y="2788920"/>
            <a:ext cx="3474720" cy="3108960"/>
          </a:xfrm>
          <a:prstGeom prst="roundRect">
            <a:avLst>
              <a:gd name="adj" fmla="val 8000"/>
            </a:avLst>
          </a:prstGeom>
          <a:solidFill>
            <a:srgbClr val="17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595359" y="3200400"/>
            <a:ext cx="731520" cy="731520"/>
          </a:xfrm>
          <a:prstGeom prst="ellipse">
            <a:avLst/>
          </a:prstGeom>
          <a:solidFill>
            <a:srgbClr val="1F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16E27B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59" y="41148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1F5F9"/>
                </a:solidFill>
                <a:latin typeface="Calibri"/>
              </a:rPr>
              <a:t>Pagamentos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59" y="4709160"/>
            <a:ext cx="2743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4A3B8"/>
                </a:solidFill>
                <a:latin typeface="Calibri"/>
              </a:rPr>
              <a:t>Controle de mensalidades, inadimplência e receita do mês.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1F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6E27B"/>
                </a:solidFill>
                <a:latin typeface="Calibri"/>
              </a:rPr>
              <a:t>PÚBLICO-ALVO &amp; PERSONA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1F5F9"/>
                </a:solidFill>
                <a:latin typeface="Calibri"/>
              </a:rPr>
              <a:t>Para quem é o FitManager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4023360" cy="4206240"/>
          </a:xfrm>
          <a:prstGeom prst="roundRect">
            <a:avLst>
              <a:gd name="adj" fmla="val 8000"/>
            </a:avLst>
          </a:prstGeom>
          <a:solidFill>
            <a:srgbClr val="17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83080" y="2240280"/>
            <a:ext cx="1737360" cy="173736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4000" b="1">
                <a:solidFill>
                  <a:srgbClr val="06231A"/>
                </a:solidFill>
                <a:latin typeface="Calibri"/>
              </a:rPr>
              <a:t>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1F5F9"/>
                </a:solidFill>
                <a:latin typeface="Calibri"/>
              </a:rPr>
              <a:t>Camila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72000"/>
            <a:ext cx="365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16E27B"/>
                </a:solidFill>
                <a:latin typeface="Calibri"/>
              </a:rPr>
              <a:t>29 anos · Personal autônoma</a:t>
            </a:r>
          </a:p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16E27B"/>
                </a:solidFill>
                <a:latin typeface="Calibri"/>
              </a:rPr>
              <a:t>Curitiba/PR · 35 alunos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0352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Atende em academia e a domicílio. Ama treinar pessoas,</a:t>
            </a:r>
          </a:p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mas quer profissionalizar e crescer.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1828800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87171"/>
                </a:solidFill>
                <a:latin typeface="Calibri"/>
              </a:rPr>
              <a:t>Dores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2240280"/>
            <a:ext cx="6583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F1F5F9"/>
                </a:solidFill>
                <a:latin typeface="Calibri"/>
              </a:rPr>
              <a:t>Cobrança manual  ·  inadimplência  ·  treinos no WhatsApp  ·  falta de tempo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2971800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6E27B"/>
                </a:solidFill>
                <a:latin typeface="Calibri"/>
              </a:rPr>
              <a:t>Desejos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3383280"/>
            <a:ext cx="6583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F1F5F9"/>
                </a:solidFill>
                <a:latin typeface="Calibri"/>
              </a:rPr>
              <a:t>Uma ferramenta simples, profissional e bonita que centralize tudo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F1F5F9"/>
                </a:solidFill>
                <a:latin typeface="Calibri"/>
              </a:rPr>
              <a:t>e a faça parecer mais profissional para os clientes.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83480" y="4526280"/>
            <a:ext cx="2103120" cy="1325880"/>
          </a:xfrm>
          <a:prstGeom prst="roundRect">
            <a:avLst>
              <a:gd name="adj" fmla="val 8000"/>
            </a:avLst>
          </a:prstGeom>
          <a:solidFill>
            <a:srgbClr val="1F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80" y="470916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16E27B"/>
                </a:solidFill>
                <a:latin typeface="Calibri"/>
              </a:rPr>
              <a:t>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539496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alunos ativos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526280"/>
            <a:ext cx="2103120" cy="1325880"/>
          </a:xfrm>
          <a:prstGeom prst="roundRect">
            <a:avLst>
              <a:gd name="adj" fmla="val 8000"/>
            </a:avLst>
          </a:prstGeom>
          <a:solidFill>
            <a:srgbClr val="1F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470916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16E27B"/>
                </a:solidFill>
                <a:latin typeface="Calibri"/>
              </a:rPr>
              <a:t>8h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539496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perdidas/semana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46920" y="4526280"/>
            <a:ext cx="2103120" cy="1325880"/>
          </a:xfrm>
          <a:prstGeom prst="roundRect">
            <a:avLst>
              <a:gd name="adj" fmla="val 8000"/>
            </a:avLst>
          </a:prstGeom>
          <a:solidFill>
            <a:srgbClr val="1F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46920" y="470916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16E27B"/>
                </a:solidFill>
                <a:latin typeface="Calibri"/>
              </a:rPr>
              <a:t>+30%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920" y="539496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renda almejada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1F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6E27B"/>
                </a:solidFill>
                <a:latin typeface="Calibri"/>
              </a:rPr>
              <a:t>O PRODUTO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1F5F9"/>
                </a:solidFill>
                <a:latin typeface="Calibri"/>
              </a:rPr>
              <a:t>Funcionalidades do aplicativo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3474720" cy="1463040"/>
          </a:xfrm>
          <a:prstGeom prst="roundRect">
            <a:avLst>
              <a:gd name="adj" fmla="val 8000"/>
            </a:avLst>
          </a:prstGeom>
          <a:solidFill>
            <a:srgbClr val="17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19" y="2148839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1F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2167127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E27B"/>
                </a:solidFill>
                <a:latin typeface="Calibri"/>
              </a:rPr>
              <a:t>Gestão de alunos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2788920"/>
            <a:ext cx="2834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94A3B8"/>
                </a:solidFill>
                <a:latin typeface="Calibri"/>
              </a:rPr>
              <a:t>Cadastro, busca, filtros e ficha completa.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74519"/>
            <a:ext cx="3474720" cy="1463040"/>
          </a:xfrm>
          <a:prstGeom prst="roundRect">
            <a:avLst>
              <a:gd name="adj" fmla="val 8000"/>
            </a:avLst>
          </a:prstGeom>
          <a:solidFill>
            <a:srgbClr val="17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54879" y="2148839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1F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59" y="2167127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E27B"/>
                </a:solidFill>
                <a:latin typeface="Calibri"/>
              </a:rPr>
              <a:t>Treinos com vídeo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788920"/>
            <a:ext cx="2834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94A3B8"/>
                </a:solidFill>
                <a:latin typeface="Calibri"/>
              </a:rPr>
              <a:t>Fichas com exercícios e demonstração em vídeo.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599" y="1874519"/>
            <a:ext cx="3474720" cy="1463040"/>
          </a:xfrm>
          <a:prstGeom prst="roundRect">
            <a:avLst>
              <a:gd name="adj" fmla="val 8000"/>
            </a:avLst>
          </a:prstGeom>
          <a:solidFill>
            <a:srgbClr val="17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49639" y="2148839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1F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19" y="2167127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E27B"/>
                </a:solidFill>
                <a:latin typeface="Calibri"/>
              </a:rPr>
              <a:t>Controle de mensalidades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39" y="2788920"/>
            <a:ext cx="2834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94A3B8"/>
                </a:solidFill>
                <a:latin typeface="Calibri"/>
              </a:rPr>
              <a:t>Pago, pendente, atrasado e alertas.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11880"/>
            <a:ext cx="3474720" cy="1463040"/>
          </a:xfrm>
          <a:prstGeom prst="roundRect">
            <a:avLst>
              <a:gd name="adj" fmla="val 8000"/>
            </a:avLst>
          </a:prstGeom>
          <a:solidFill>
            <a:srgbClr val="17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0119" y="388620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1F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3904488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E27B"/>
                </a:solidFill>
                <a:latin typeface="Calibri"/>
              </a:rPr>
              <a:t>Painel financeiro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19" y="4526280"/>
            <a:ext cx="2834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94A3B8"/>
                </a:solidFill>
                <a:latin typeface="Calibri"/>
              </a:rPr>
              <a:t>Receita, inadimplência e gráficos.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611880"/>
            <a:ext cx="3474720" cy="1463040"/>
          </a:xfrm>
          <a:prstGeom prst="roundRect">
            <a:avLst>
              <a:gd name="adj" fmla="val 8000"/>
            </a:avLst>
          </a:prstGeom>
          <a:solidFill>
            <a:srgbClr val="17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754879" y="388620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1F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59" y="3904488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E27B"/>
                </a:solidFill>
                <a:latin typeface="Calibri"/>
              </a:rPr>
              <a:t>Biblioteca de exercícios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79" y="4526280"/>
            <a:ext cx="2834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94A3B8"/>
                </a:solidFill>
                <a:latin typeface="Calibri"/>
              </a:rPr>
              <a:t>12 exercícios com foto e vídeo.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599" y="3611880"/>
            <a:ext cx="3474720" cy="1463040"/>
          </a:xfrm>
          <a:prstGeom prst="roundRect">
            <a:avLst>
              <a:gd name="adj" fmla="val 8000"/>
            </a:avLst>
          </a:prstGeom>
          <a:solidFill>
            <a:srgbClr val="17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549639" y="388620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1F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19" y="3904488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E27B"/>
                </a:solidFill>
                <a:latin typeface="Calibri"/>
              </a:rPr>
              <a:t>Avaliação física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39" y="4526280"/>
            <a:ext cx="2834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94A3B8"/>
                </a:solidFill>
                <a:latin typeface="Calibri"/>
              </a:rPr>
              <a:t>Peso, IMC e % de gordura por aluno.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1F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6E27B"/>
                </a:solidFill>
                <a:latin typeface="Calibri"/>
              </a:rPr>
              <a:t>DEMONSTRAÇÃO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1F5F9"/>
                </a:solidFill>
                <a:latin typeface="Calibri"/>
              </a:rPr>
              <a:t>As 5 telas do sistema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5257800" cy="1691640"/>
          </a:xfrm>
          <a:prstGeom prst="roundRect">
            <a:avLst>
              <a:gd name="adj" fmla="val 8000"/>
            </a:avLst>
          </a:prstGeom>
          <a:solidFill>
            <a:srgbClr val="17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19" y="2377440"/>
            <a:ext cx="777240" cy="777240"/>
          </a:xfrm>
          <a:prstGeom prst="ellipse">
            <a:avLst/>
          </a:prstGeom>
          <a:solidFill>
            <a:srgbClr val="1F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16E27B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39" y="2304288"/>
            <a:ext cx="3703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1F5F9"/>
                </a:solidFill>
                <a:latin typeface="Calibri"/>
              </a:rPr>
              <a:t>Painel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39" y="2788920"/>
            <a:ext cx="3703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94A3B8"/>
                </a:solidFill>
                <a:latin typeface="Calibri"/>
              </a:rPr>
              <a:t>Receita do mês, alunos ativos, inadimplência e gráfico de 6 meses.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920240"/>
            <a:ext cx="5257800" cy="1691640"/>
          </a:xfrm>
          <a:prstGeom prst="roundRect">
            <a:avLst>
              <a:gd name="adj" fmla="val 8000"/>
            </a:avLst>
          </a:prstGeom>
          <a:solidFill>
            <a:srgbClr val="17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92240" y="2377440"/>
            <a:ext cx="777240" cy="777240"/>
          </a:xfrm>
          <a:prstGeom prst="ellipse">
            <a:avLst/>
          </a:prstGeom>
          <a:solidFill>
            <a:srgbClr val="1F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16E27B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2304288"/>
            <a:ext cx="3703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1F5F9"/>
                </a:solidFill>
                <a:latin typeface="Calibri"/>
              </a:rPr>
              <a:t>Alunos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2788920"/>
            <a:ext cx="3703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94A3B8"/>
                </a:solidFill>
                <a:latin typeface="Calibri"/>
              </a:rPr>
              <a:t>Lista, busca e ficha com avaliação física e histórico.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886200"/>
            <a:ext cx="5257800" cy="1691640"/>
          </a:xfrm>
          <a:prstGeom prst="roundRect">
            <a:avLst>
              <a:gd name="adj" fmla="val 8000"/>
            </a:avLst>
          </a:prstGeom>
          <a:solidFill>
            <a:srgbClr val="17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19" y="4343400"/>
            <a:ext cx="777240" cy="777240"/>
          </a:xfrm>
          <a:prstGeom prst="ellipse">
            <a:avLst/>
          </a:prstGeom>
          <a:solidFill>
            <a:srgbClr val="1F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16E27B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39" y="4270248"/>
            <a:ext cx="3703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1F5F9"/>
                </a:solidFill>
                <a:latin typeface="Calibri"/>
              </a:rPr>
              <a:t>Treinos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39" y="4754880"/>
            <a:ext cx="3703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94A3B8"/>
                </a:solidFill>
                <a:latin typeface="Calibri"/>
              </a:rPr>
              <a:t>Montagem de fichas e atribuição a cada aluno.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886200"/>
            <a:ext cx="5257800" cy="1691640"/>
          </a:xfrm>
          <a:prstGeom prst="roundRect">
            <a:avLst>
              <a:gd name="adj" fmla="val 8000"/>
            </a:avLst>
          </a:prstGeom>
          <a:solidFill>
            <a:srgbClr val="17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92240" y="4343400"/>
            <a:ext cx="777240" cy="777240"/>
          </a:xfrm>
          <a:prstGeom prst="ellipse">
            <a:avLst/>
          </a:prstGeom>
          <a:solidFill>
            <a:srgbClr val="1F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16E27B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4270248"/>
            <a:ext cx="3703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1F5F9"/>
                </a:solidFill>
                <a:latin typeface="Calibri"/>
              </a:rPr>
              <a:t>Pagamentos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4754880"/>
            <a:ext cx="3703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94A3B8"/>
                </a:solidFill>
                <a:latin typeface="Calibri"/>
              </a:rPr>
              <a:t>Mensalidades por mês e status, com 1 clique em “pago”.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06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16E27B"/>
                </a:solidFill>
                <a:latin typeface="Calibri"/>
              </a:rPr>
              <a:t>+ Biblioteca de exercícios com vídeos demonstrativos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1F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6E27B"/>
                </a:solidFill>
                <a:latin typeface="Calibri"/>
              </a:rPr>
              <a:t>MARKETING DIGITAL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1F5F9"/>
                </a:solidFill>
                <a:latin typeface="Calibri"/>
              </a:rPr>
              <a:t>Estratégias aplicadas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927080" cy="960120"/>
          </a:xfrm>
          <a:prstGeom prst="roundRect">
            <a:avLst>
              <a:gd name="adj" fmla="val 8000"/>
            </a:avLst>
          </a:prstGeom>
          <a:solidFill>
            <a:srgbClr val="17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21408"/>
            <a:ext cx="457200" cy="457200"/>
          </a:xfrm>
          <a:prstGeom prst="ellipse">
            <a:avLst/>
          </a:prstGeom>
          <a:solidFill>
            <a:srgbClr val="16E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6231A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020824"/>
            <a:ext cx="27432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6E27B"/>
                </a:solidFill>
                <a:latin typeface="Calibri"/>
              </a:rPr>
              <a:t>Posicionamento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020824"/>
            <a:ext cx="6949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1F5F9"/>
                </a:solidFill>
                <a:latin typeface="Calibri"/>
              </a:rPr>
              <a:t>Não é “mais um app de treino”: é o sistema que aumenta a renda do personal.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971800"/>
            <a:ext cx="10927080" cy="960120"/>
          </a:xfrm>
          <a:prstGeom prst="roundRect">
            <a:avLst>
              <a:gd name="adj" fmla="val 8000"/>
            </a:avLst>
          </a:prstGeom>
          <a:solidFill>
            <a:srgbClr val="17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3218688"/>
            <a:ext cx="457200" cy="457200"/>
          </a:xfrm>
          <a:prstGeom prst="ellipse">
            <a:avLst/>
          </a:prstGeom>
          <a:solidFill>
            <a:srgbClr val="16E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6231A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118104"/>
            <a:ext cx="27432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6E27B"/>
                </a:solidFill>
                <a:latin typeface="Calibri"/>
              </a:rPr>
              <a:t>Marketing de conteúdo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118104"/>
            <a:ext cx="6949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1F5F9"/>
                </a:solidFill>
                <a:latin typeface="Calibri"/>
              </a:rPr>
              <a:t>Blog e Reels (Instagram/YouTube) sobre organização e inadimplência atraem leads.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069079"/>
            <a:ext cx="10927080" cy="960120"/>
          </a:xfrm>
          <a:prstGeom prst="roundRect">
            <a:avLst>
              <a:gd name="adj" fmla="val 8000"/>
            </a:avLst>
          </a:prstGeom>
          <a:solidFill>
            <a:srgbClr val="17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4315967"/>
            <a:ext cx="457200" cy="457200"/>
          </a:xfrm>
          <a:prstGeom prst="ellipse">
            <a:avLst/>
          </a:prstGeom>
          <a:solidFill>
            <a:srgbClr val="16E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6231A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215383"/>
            <a:ext cx="27432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6E27B"/>
                </a:solidFill>
                <a:latin typeface="Calibri"/>
              </a:rPr>
              <a:t>Prova social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215383"/>
            <a:ext cx="6949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1F5F9"/>
                </a:solidFill>
                <a:latin typeface="Calibri"/>
              </a:rPr>
              <a:t>+2.000 personais, nota 4,9★, depoimentos e logos de academias.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166359"/>
            <a:ext cx="10927080" cy="960120"/>
          </a:xfrm>
          <a:prstGeom prst="roundRect">
            <a:avLst>
              <a:gd name="adj" fmla="val 8000"/>
            </a:avLst>
          </a:prstGeom>
          <a:solidFill>
            <a:srgbClr val="17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413248"/>
            <a:ext cx="457200" cy="457200"/>
          </a:xfrm>
          <a:prstGeom prst="ellipse">
            <a:avLst/>
          </a:prstGeom>
          <a:solidFill>
            <a:srgbClr val="16E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6231A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312664"/>
            <a:ext cx="27432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6E27B"/>
                </a:solidFill>
                <a:latin typeface="Calibri"/>
              </a:rPr>
              <a:t>Gatilhos mentais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5312664"/>
            <a:ext cx="6949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1F5F9"/>
                </a:solidFill>
                <a:latin typeface="Calibri"/>
              </a:rPr>
              <a:t>Escassez (trial), autoridade, reciprocidade (plano grátis) e ancoragem de preço.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1F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6E27B"/>
                </a:solidFill>
                <a:latin typeface="Calibri"/>
              </a:rPr>
              <a:t>LANDING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1F5F9"/>
                </a:solidFill>
                <a:latin typeface="Calibri"/>
              </a:rPr>
              <a:t>Conversão + SEO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17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6E27B"/>
                </a:solidFill>
                <a:latin typeface="Calibri"/>
              </a:rPr>
              <a:t>Estratégias de conversão (CRO)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697480"/>
            <a:ext cx="292608" cy="292608"/>
          </a:xfrm>
          <a:prstGeom prst="ellipse">
            <a:avLst/>
          </a:prstGeom>
          <a:solidFill>
            <a:srgbClr val="1F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6E27B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670048"/>
            <a:ext cx="4434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1F5F9"/>
                </a:solidFill>
                <a:latin typeface="Calibri"/>
              </a:rPr>
              <a:t>CTAs repetidos e contrastantes em toda a página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300984"/>
            <a:ext cx="292608" cy="292608"/>
          </a:xfrm>
          <a:prstGeom prst="ellipse">
            <a:avLst/>
          </a:prstGeom>
          <a:solidFill>
            <a:srgbClr val="1F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6E27B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73552"/>
            <a:ext cx="4434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1F5F9"/>
                </a:solidFill>
                <a:latin typeface="Calibri"/>
              </a:rPr>
              <a:t>Atrito reduzido: “grátis”, “sem cartão”, “cancele quando quiser”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904488"/>
            <a:ext cx="292608" cy="292608"/>
          </a:xfrm>
          <a:prstGeom prst="ellipse">
            <a:avLst/>
          </a:prstGeom>
          <a:solidFill>
            <a:srgbClr val="1F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6E27B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877056"/>
            <a:ext cx="4434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1F5F9"/>
                </a:solidFill>
                <a:latin typeface="Calibri"/>
              </a:rPr>
              <a:t>Plano âncora destacado (“Mais popular”)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507992"/>
            <a:ext cx="292608" cy="292608"/>
          </a:xfrm>
          <a:prstGeom prst="ellipse">
            <a:avLst/>
          </a:prstGeom>
          <a:solidFill>
            <a:srgbClr val="1F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6E27B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480559"/>
            <a:ext cx="4434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1F5F9"/>
                </a:solidFill>
                <a:latin typeface="Calibri"/>
              </a:rPr>
              <a:t>FAQ antes do CTA final para quebrar objeções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5111496"/>
            <a:ext cx="292608" cy="292608"/>
          </a:xfrm>
          <a:prstGeom prst="ellipse">
            <a:avLst/>
          </a:prstGeom>
          <a:solidFill>
            <a:srgbClr val="1F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6E27B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084064"/>
            <a:ext cx="4434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1F5F9"/>
                </a:solidFill>
                <a:latin typeface="Calibri"/>
              </a:rPr>
              <a:t>Mockup do produto e prova social no topo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874519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17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10312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2D3EE"/>
                </a:solidFill>
                <a:latin typeface="Calibri"/>
              </a:rPr>
              <a:t>SEO básico implementado</a:t>
            </a:r>
          </a:p>
        </p:txBody>
      </p:sp>
      <p:sp>
        <p:nvSpPr>
          <p:cNvPr id="19" name="Oval 18"/>
          <p:cNvSpPr/>
          <p:nvPr/>
        </p:nvSpPr>
        <p:spPr>
          <a:xfrm>
            <a:off x="6446520" y="2697480"/>
            <a:ext cx="292608" cy="292608"/>
          </a:xfrm>
          <a:prstGeom prst="ellipse">
            <a:avLst/>
          </a:prstGeom>
          <a:solidFill>
            <a:srgbClr val="1F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2D3EE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670048"/>
            <a:ext cx="4434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1F5F9"/>
                </a:solidFill>
                <a:latin typeface="Calibri"/>
              </a:rPr>
              <a:t>Title e meta description otimizados</a:t>
            </a:r>
          </a:p>
        </p:txBody>
      </p:sp>
      <p:sp>
        <p:nvSpPr>
          <p:cNvPr id="21" name="Oval 20"/>
          <p:cNvSpPr/>
          <p:nvPr/>
        </p:nvSpPr>
        <p:spPr>
          <a:xfrm>
            <a:off x="6446520" y="3300984"/>
            <a:ext cx="292608" cy="292608"/>
          </a:xfrm>
          <a:prstGeom prst="ellipse">
            <a:avLst/>
          </a:prstGeom>
          <a:solidFill>
            <a:srgbClr val="1F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2D3EE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3273552"/>
            <a:ext cx="4434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1F5F9"/>
                </a:solidFill>
                <a:latin typeface="Calibri"/>
              </a:rPr>
              <a:t>Open Graph + Twitter Cards (redes sociais)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3904488"/>
            <a:ext cx="292608" cy="292608"/>
          </a:xfrm>
          <a:prstGeom prst="ellipse">
            <a:avLst/>
          </a:prstGeom>
          <a:solidFill>
            <a:srgbClr val="1F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2D3EE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877056"/>
            <a:ext cx="4434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1F5F9"/>
                </a:solidFill>
                <a:latin typeface="Calibri"/>
              </a:rPr>
              <a:t>Dados estruturados JSON-LD (Schema.org)</a:t>
            </a:r>
          </a:p>
        </p:txBody>
      </p:sp>
      <p:sp>
        <p:nvSpPr>
          <p:cNvPr id="25" name="Oval 24"/>
          <p:cNvSpPr/>
          <p:nvPr/>
        </p:nvSpPr>
        <p:spPr>
          <a:xfrm>
            <a:off x="6446520" y="4507992"/>
            <a:ext cx="292608" cy="292608"/>
          </a:xfrm>
          <a:prstGeom prst="ellipse">
            <a:avLst/>
          </a:prstGeom>
          <a:solidFill>
            <a:srgbClr val="1F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2D3EE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4480559"/>
            <a:ext cx="4434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1F5F9"/>
                </a:solidFill>
                <a:latin typeface="Calibri"/>
              </a:rPr>
              <a:t>HTML semântico, H1/H2 e atributos alt</a:t>
            </a:r>
          </a:p>
        </p:txBody>
      </p:sp>
      <p:sp>
        <p:nvSpPr>
          <p:cNvPr id="27" name="Oval 26"/>
          <p:cNvSpPr/>
          <p:nvPr/>
        </p:nvSpPr>
        <p:spPr>
          <a:xfrm>
            <a:off x="6446520" y="5111496"/>
            <a:ext cx="292608" cy="292608"/>
          </a:xfrm>
          <a:prstGeom prst="ellipse">
            <a:avLst/>
          </a:prstGeom>
          <a:solidFill>
            <a:srgbClr val="1F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2D3EE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84064"/>
            <a:ext cx="4434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1F5F9"/>
                </a:solidFill>
                <a:latin typeface="Calibri"/>
              </a:rPr>
              <a:t>lang pt-BR, canonical e performance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1F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6E27B"/>
                </a:solidFill>
                <a:latin typeface="Calibri"/>
              </a:rPr>
              <a:t>MODELO DE NEGÓCIO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1F5F9"/>
                </a:solidFill>
                <a:latin typeface="Calibri"/>
              </a:rPr>
              <a:t>Assinatura recorrente (freemium)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3474720" cy="4114800"/>
          </a:xfrm>
          <a:prstGeom prst="roundRect">
            <a:avLst>
              <a:gd name="adj" fmla="val 8000"/>
            </a:avLst>
          </a:prstGeom>
          <a:solidFill>
            <a:srgbClr val="17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1F5F9"/>
                </a:solidFill>
                <a:latin typeface="Calibri"/>
              </a:rPr>
              <a:t>Iniciante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6E27B"/>
                </a:solidFill>
                <a:latin typeface="Calibri"/>
              </a:rPr>
              <a:t>Grátis</a:t>
            </a:r>
          </a:p>
        </p:txBody>
      </p:sp>
      <p:sp>
        <p:nvSpPr>
          <p:cNvPr id="8" name="Oval 7"/>
          <p:cNvSpPr/>
          <p:nvPr/>
        </p:nvSpPr>
        <p:spPr>
          <a:xfrm>
            <a:off x="1005840" y="3611880"/>
            <a:ext cx="274320" cy="274320"/>
          </a:xfrm>
          <a:prstGeom prst="ellipse">
            <a:avLst/>
          </a:prstGeom>
          <a:solidFill>
            <a:srgbClr val="17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6E27B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19" y="3575304"/>
            <a:ext cx="23774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4A3B8"/>
                </a:solidFill>
                <a:latin typeface="Calibri"/>
              </a:rPr>
              <a:t>Até 5 alunos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4114800"/>
            <a:ext cx="274320" cy="274320"/>
          </a:xfrm>
          <a:prstGeom prst="ellipse">
            <a:avLst/>
          </a:prstGeom>
          <a:solidFill>
            <a:srgbClr val="17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6E27B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4078224"/>
            <a:ext cx="23774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4A3B8"/>
                </a:solidFill>
                <a:latin typeface="Calibri"/>
              </a:rPr>
              <a:t>Treinos com fotos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4617720"/>
            <a:ext cx="274320" cy="274320"/>
          </a:xfrm>
          <a:prstGeom prst="ellipse">
            <a:avLst/>
          </a:prstGeom>
          <a:solidFill>
            <a:srgbClr val="17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6E27B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4581144"/>
            <a:ext cx="23774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4A3B8"/>
                </a:solidFill>
                <a:latin typeface="Calibri"/>
              </a:rPr>
              <a:t>Controle básico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920240"/>
            <a:ext cx="3474720" cy="4114800"/>
          </a:xfrm>
          <a:prstGeom prst="roundRect">
            <a:avLst>
              <a:gd name="adj" fmla="val 8000"/>
            </a:avLst>
          </a:prstGeom>
          <a:solidFill>
            <a:srgbClr val="1F2B47"/>
          </a:solidFill>
          <a:ln w="25400">
            <a:solidFill>
              <a:srgbClr val="16E2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212080" y="1755648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16E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06231A"/>
                </a:solidFill>
                <a:latin typeface="Calibri"/>
              </a:rPr>
              <a:t>MAIS POPULAR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2402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1F5F9"/>
                </a:solidFill>
                <a:latin typeface="Calibri"/>
              </a:rPr>
              <a:t>Profissional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74320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6E27B"/>
                </a:solidFill>
                <a:latin typeface="Calibri"/>
              </a:rPr>
              <a:t>R$ 49,90/mês</a:t>
            </a:r>
          </a:p>
        </p:txBody>
      </p:sp>
      <p:sp>
        <p:nvSpPr>
          <p:cNvPr id="18" name="Oval 17"/>
          <p:cNvSpPr/>
          <p:nvPr/>
        </p:nvSpPr>
        <p:spPr>
          <a:xfrm>
            <a:off x="4800600" y="3611880"/>
            <a:ext cx="274320" cy="274320"/>
          </a:xfrm>
          <a:prstGeom prst="ellipse">
            <a:avLst/>
          </a:prstGeom>
          <a:solidFill>
            <a:srgbClr val="17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6E27B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9" y="3575304"/>
            <a:ext cx="23774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4A3B8"/>
                </a:solidFill>
                <a:latin typeface="Calibri"/>
              </a:rPr>
              <a:t>Alunos ilimitados</a:t>
            </a:r>
          </a:p>
        </p:txBody>
      </p:sp>
      <p:sp>
        <p:nvSpPr>
          <p:cNvPr id="20" name="Oval 19"/>
          <p:cNvSpPr/>
          <p:nvPr/>
        </p:nvSpPr>
        <p:spPr>
          <a:xfrm>
            <a:off x="4800600" y="4114800"/>
            <a:ext cx="274320" cy="274320"/>
          </a:xfrm>
          <a:prstGeom prst="ellipse">
            <a:avLst/>
          </a:prstGeom>
          <a:solidFill>
            <a:srgbClr val="17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6E27B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79" y="4078224"/>
            <a:ext cx="23774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4A3B8"/>
                </a:solidFill>
                <a:latin typeface="Calibri"/>
              </a:rPr>
              <a:t>Treinos com vídeo</a:t>
            </a:r>
          </a:p>
        </p:txBody>
      </p:sp>
      <p:sp>
        <p:nvSpPr>
          <p:cNvPr id="22" name="Oval 21"/>
          <p:cNvSpPr/>
          <p:nvPr/>
        </p:nvSpPr>
        <p:spPr>
          <a:xfrm>
            <a:off x="4800600" y="4617720"/>
            <a:ext cx="274320" cy="274320"/>
          </a:xfrm>
          <a:prstGeom prst="ellipse">
            <a:avLst/>
          </a:prstGeom>
          <a:solidFill>
            <a:srgbClr val="17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6E27B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9" y="4581144"/>
            <a:ext cx="23774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4A3B8"/>
                </a:solidFill>
                <a:latin typeface="Calibri"/>
              </a:rPr>
              <a:t>Financeiro completo</a:t>
            </a:r>
          </a:p>
        </p:txBody>
      </p:sp>
      <p:sp>
        <p:nvSpPr>
          <p:cNvPr id="24" name="Oval 23"/>
          <p:cNvSpPr/>
          <p:nvPr/>
        </p:nvSpPr>
        <p:spPr>
          <a:xfrm>
            <a:off x="4800600" y="5120640"/>
            <a:ext cx="274320" cy="274320"/>
          </a:xfrm>
          <a:prstGeom prst="ellipse">
            <a:avLst/>
          </a:prstGeom>
          <a:solidFill>
            <a:srgbClr val="17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6E27B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5084064"/>
            <a:ext cx="23774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4A3B8"/>
                </a:solidFill>
                <a:latin typeface="Calibri"/>
              </a:rPr>
              <a:t>Avaliações físicas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599" y="1920240"/>
            <a:ext cx="3474720" cy="4114800"/>
          </a:xfrm>
          <a:prstGeom prst="roundRect">
            <a:avLst>
              <a:gd name="adj" fmla="val 8000"/>
            </a:avLst>
          </a:prstGeom>
          <a:solidFill>
            <a:srgbClr val="17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59" y="22402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1F5F9"/>
                </a:solidFill>
                <a:latin typeface="Calibri"/>
              </a:rPr>
              <a:t>Studio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59" y="274320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6E27B"/>
                </a:solidFill>
                <a:latin typeface="Calibri"/>
              </a:rPr>
              <a:t>R$ 129/mês</a:t>
            </a:r>
          </a:p>
        </p:txBody>
      </p:sp>
      <p:sp>
        <p:nvSpPr>
          <p:cNvPr id="29" name="Oval 28"/>
          <p:cNvSpPr/>
          <p:nvPr/>
        </p:nvSpPr>
        <p:spPr>
          <a:xfrm>
            <a:off x="8595359" y="3611880"/>
            <a:ext cx="274320" cy="274320"/>
          </a:xfrm>
          <a:prstGeom prst="ellipse">
            <a:avLst/>
          </a:prstGeom>
          <a:solidFill>
            <a:srgbClr val="17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6E27B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39" y="3575304"/>
            <a:ext cx="23774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4A3B8"/>
                </a:solidFill>
                <a:latin typeface="Calibri"/>
              </a:rPr>
              <a:t>Tudo do Pro</a:t>
            </a:r>
          </a:p>
        </p:txBody>
      </p:sp>
      <p:sp>
        <p:nvSpPr>
          <p:cNvPr id="31" name="Oval 30"/>
          <p:cNvSpPr/>
          <p:nvPr/>
        </p:nvSpPr>
        <p:spPr>
          <a:xfrm>
            <a:off x="8595359" y="4114800"/>
            <a:ext cx="274320" cy="274320"/>
          </a:xfrm>
          <a:prstGeom prst="ellipse">
            <a:avLst/>
          </a:prstGeom>
          <a:solidFill>
            <a:srgbClr val="17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6E27B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39" y="4078224"/>
            <a:ext cx="23774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4A3B8"/>
                </a:solidFill>
                <a:latin typeface="Calibri"/>
              </a:rPr>
              <a:t>Até 5 personais</a:t>
            </a:r>
          </a:p>
        </p:txBody>
      </p:sp>
      <p:sp>
        <p:nvSpPr>
          <p:cNvPr id="33" name="Oval 32"/>
          <p:cNvSpPr/>
          <p:nvPr/>
        </p:nvSpPr>
        <p:spPr>
          <a:xfrm>
            <a:off x="8595359" y="4617720"/>
            <a:ext cx="274320" cy="274320"/>
          </a:xfrm>
          <a:prstGeom prst="ellipse">
            <a:avLst/>
          </a:prstGeom>
          <a:solidFill>
            <a:srgbClr val="17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6E27B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6839" y="4581144"/>
            <a:ext cx="23774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4A3B8"/>
                </a:solidFill>
                <a:latin typeface="Calibri"/>
              </a:rPr>
              <a:t>Marca própria</a:t>
            </a:r>
          </a:p>
        </p:txBody>
      </p:sp>
      <p:sp>
        <p:nvSpPr>
          <p:cNvPr id="35" name="Oval 34"/>
          <p:cNvSpPr/>
          <p:nvPr/>
        </p:nvSpPr>
        <p:spPr>
          <a:xfrm>
            <a:off x="8595359" y="5120640"/>
            <a:ext cx="274320" cy="274320"/>
          </a:xfrm>
          <a:prstGeom prst="ellipse">
            <a:avLst/>
          </a:prstGeom>
          <a:solidFill>
            <a:srgbClr val="17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6E27B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6839" y="5084064"/>
            <a:ext cx="23774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4A3B8"/>
                </a:solidFill>
                <a:latin typeface="Calibri"/>
              </a:rPr>
              <a:t>Suporte prioritário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172200"/>
            <a:ext cx="10927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16E27B"/>
                </a:solidFill>
                <a:latin typeface="Calibri"/>
              </a:rPr>
              <a:t>Estratégia: plano gratuito atrai (gera leads) → ao passar de 5 alunos, converte para o Profissional.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1F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6E27B"/>
                </a:solidFill>
                <a:latin typeface="Calibri"/>
              </a:rPr>
              <a:t>RESULTADOS ESPERADOS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1F5F9"/>
                </a:solidFill>
                <a:latin typeface="Calibri"/>
              </a:rPr>
              <a:t>Métricas e KPIs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17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2606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16E27B"/>
                </a:solidFill>
                <a:latin typeface="Calibri"/>
              </a:rPr>
              <a:t>3-5%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29000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94A3B8"/>
                </a:solidFill>
                <a:latin typeface="Calibri"/>
              </a:rPr>
              <a:t>Conversão da</a:t>
            </a:r>
          </a:p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94A3B8"/>
                </a:solidFill>
                <a:latin typeface="Calibri"/>
              </a:rPr>
              <a:t>landing page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201168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17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39" y="2377440"/>
            <a:ext cx="2606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16E27B"/>
                </a:solidFill>
                <a:latin typeface="Calibri"/>
              </a:rPr>
              <a:t>15-25%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39" y="3429000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94A3B8"/>
                </a:solidFill>
                <a:latin typeface="Calibri"/>
              </a:rPr>
              <a:t>Trial para</a:t>
            </a:r>
          </a:p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94A3B8"/>
                </a:solidFill>
                <a:latin typeface="Calibri"/>
              </a:rPr>
              <a:t>plano pago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01168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17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377440"/>
            <a:ext cx="2606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16E27B"/>
                </a:solidFill>
                <a:latin typeface="Calibri"/>
              </a:rPr>
              <a:t>&lt; 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29000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94A3B8"/>
                </a:solidFill>
                <a:latin typeface="Calibri"/>
              </a:rPr>
              <a:t>Churn</a:t>
            </a:r>
          </a:p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94A3B8"/>
                </a:solidFill>
                <a:latin typeface="Calibri"/>
              </a:rPr>
              <a:t>(cancelamento)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59" y="201168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17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59" y="2377440"/>
            <a:ext cx="2606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16E27B"/>
                </a:solidFill>
                <a:latin typeface="Calibri"/>
              </a:rPr>
              <a:t>≥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59" y="3429000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94A3B8"/>
                </a:solidFill>
                <a:latin typeface="Calibri"/>
              </a:rPr>
              <a:t>Relação</a:t>
            </a:r>
          </a:p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94A3B8"/>
                </a:solidFill>
                <a:latin typeface="Calibri"/>
              </a:rPr>
              <a:t>LTV / CAC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663440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1F5F9"/>
                </a:solidFill>
                <a:latin typeface="Calibri"/>
              </a:rPr>
              <a:t>Acompanhamos também: MRR/ARR (receita recorrente), CAC, taxa de ativação e NPS.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212080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94A3B8"/>
                </a:solidFill>
                <a:latin typeface="Calibri"/>
              </a:rPr>
              <a:t>O próprio app já entrega ao personal: receita do mês, inadimplência e nº de alunos ativos.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1F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6E27B"/>
                </a:solidFill>
                <a:latin typeface="Calibri"/>
              </a:rPr>
              <a:t>TECNOLOGIAS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1F5F9"/>
                </a:solidFill>
                <a:latin typeface="Calibri"/>
              </a:rPr>
              <a:t>Como foi construído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3474720" cy="1234440"/>
          </a:xfrm>
          <a:prstGeom prst="roundRect">
            <a:avLst>
              <a:gd name="adj" fmla="val 8000"/>
            </a:avLst>
          </a:prstGeom>
          <a:solidFill>
            <a:srgbClr val="17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3055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6E27B"/>
                </a:solidFill>
                <a:latin typeface="Calibri"/>
              </a:rPr>
              <a:t>HTML5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24327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4A3B8"/>
                </a:solidFill>
                <a:latin typeface="Calibri"/>
              </a:rPr>
              <a:t>Estrutura semântica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74519"/>
            <a:ext cx="3474720" cy="1234440"/>
          </a:xfrm>
          <a:prstGeom prst="roundRect">
            <a:avLst>
              <a:gd name="adj" fmla="val 8000"/>
            </a:avLst>
          </a:prstGeom>
          <a:solidFill>
            <a:srgbClr val="17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213055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6E27B"/>
                </a:solidFill>
                <a:latin typeface="Calibri"/>
              </a:rPr>
              <a:t>CSS3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624327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4A3B8"/>
                </a:solidFill>
                <a:latin typeface="Calibri"/>
              </a:rPr>
              <a:t>Design e responsividade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599" y="1874519"/>
            <a:ext cx="3474720" cy="1234440"/>
          </a:xfrm>
          <a:prstGeom prst="roundRect">
            <a:avLst>
              <a:gd name="adj" fmla="val 8000"/>
            </a:avLst>
          </a:prstGeom>
          <a:solidFill>
            <a:srgbClr val="17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59" y="213055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6E27B"/>
                </a:solidFill>
                <a:latin typeface="Calibri"/>
              </a:rPr>
              <a:t>JavaScript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59" y="2624327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4A3B8"/>
                </a:solidFill>
                <a:latin typeface="Calibri"/>
              </a:rPr>
              <a:t>Lógica do app (SPA)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83280"/>
            <a:ext cx="3474720" cy="1234440"/>
          </a:xfrm>
          <a:prstGeom prst="roundRect">
            <a:avLst>
              <a:gd name="adj" fmla="val 8000"/>
            </a:avLst>
          </a:prstGeom>
          <a:solidFill>
            <a:srgbClr val="17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63931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6E27B"/>
                </a:solidFill>
                <a:latin typeface="Calibri"/>
              </a:rPr>
              <a:t>localStorage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13308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4A3B8"/>
                </a:solidFill>
                <a:latin typeface="Calibri"/>
              </a:rPr>
              <a:t>Banco de dados local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383280"/>
            <a:ext cx="3474720" cy="1234440"/>
          </a:xfrm>
          <a:prstGeom prst="roundRect">
            <a:avLst>
              <a:gd name="adj" fmla="val 8000"/>
            </a:avLst>
          </a:prstGeom>
          <a:solidFill>
            <a:srgbClr val="17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363931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6E27B"/>
                </a:solidFill>
                <a:latin typeface="Calibri"/>
              </a:rPr>
              <a:t>Schema.org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413308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4A3B8"/>
                </a:solidFill>
                <a:latin typeface="Calibri"/>
              </a:rPr>
              <a:t>SEO técnico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599" y="3383280"/>
            <a:ext cx="3474720" cy="1234440"/>
          </a:xfrm>
          <a:prstGeom prst="roundRect">
            <a:avLst>
              <a:gd name="adj" fmla="val 8000"/>
            </a:avLst>
          </a:prstGeom>
          <a:solidFill>
            <a:srgbClr val="17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59" y="363931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6E27B"/>
                </a:solidFill>
                <a:latin typeface="Calibri"/>
              </a:rPr>
              <a:t>YouTube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59" y="413308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4A3B8"/>
                </a:solidFill>
                <a:latin typeface="Calibri"/>
              </a:rPr>
              <a:t>Vídeos dos exercícios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937760"/>
            <a:ext cx="10927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F1F5F9"/>
                </a:solidFill>
                <a:latin typeface="Calibri"/>
              </a:rPr>
              <a:t>Por quê? Stack leve, sem instalação nem servidor — funciona só abrindo o arquivo. Confiável na apresentação.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1828800"/>
            <a:ext cx="5943600" cy="5943600"/>
          </a:xfrm>
          <a:prstGeom prst="ellipse">
            <a:avLst/>
          </a:prstGeom>
          <a:solidFill>
            <a:srgbClr val="10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19456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1F5F9"/>
                </a:solidFill>
                <a:latin typeface="Calibri"/>
              </a:rPr>
              <a:t>Obrigado!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16E27B"/>
                </a:solidFill>
                <a:latin typeface="Calibri"/>
              </a:rPr>
              <a:t>FitManager — organize seus alunos e multiplique sua renda.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4A3B8"/>
                </a:solidFill>
                <a:latin typeface="Calibri"/>
              </a:rPr>
              <a:t>Landing page + App SaaS funcional + Relatório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937760"/>
            <a:ext cx="3657600" cy="502920"/>
          </a:xfrm>
          <a:prstGeom prst="roundRect">
            <a:avLst>
              <a:gd name="adj" fmla="val 50000"/>
            </a:avLst>
          </a:prstGeom>
          <a:solidFill>
            <a:srgbClr val="1F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F1F5F9"/>
                </a:solidFill>
                <a:latin typeface="Calibri"/>
              </a:rPr>
              <a:t>Demonstração ao vivo a seguir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ISULPAR · Sistemas de Informação · Marketing Digital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